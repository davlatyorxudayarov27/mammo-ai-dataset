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73152"/>
          </a:xfrm>
          <a:prstGeom prst="rect">
            <a:avLst/>
          </a:prstGeom>
          <a:solidFill>
            <a:srgbClr val="22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AI Scan — MAMOGRAF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000" b="0" i="0">
                <a:solidFill>
                  <a:srgbClr val="C9DBEF"/>
                </a:solidFill>
                <a:latin typeface="Calibri"/>
              </a:rPr>
              <a:t>Sun'iy intellekt asosida ko'krak bezi o'smalarini erta aniqlash tizimi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To'liq ish tsikli:  Upload → Auto-AI → Annotation → Dataset → Yangi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2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Loyiha haqida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2743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103A40"/>
                </a:solidFill>
                <a:latin typeface="Calibri"/>
              </a:rPr>
              <a:t>▸  MAMOGRAF — mammografiya tasvirlari yordamida ko'krak bezi o'smalarini (xavfsiz / xavfli) erta aniqlovchi AI tizim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103A40"/>
                </a:solidFill>
                <a:latin typeface="Calibri"/>
              </a:rPr>
              <a:t>▸  DICOM ko'ruvchi + annotatsiya muharriri + AI inference + model o'qitish — barchasi bitta veb-ilovada (FastAPI)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103A40"/>
                </a:solidFill>
                <a:latin typeface="Calibri"/>
              </a:rPr>
              <a:t>▸  Maqsad: radiolog ishini tezlashtirish, diagnostika aniqligini oshirish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103A40"/>
                </a:solidFill>
                <a:latin typeface="Calibri"/>
              </a:rPr>
              <a:t>▸  Asosiy g'oya — YOPIQ SIKL (Active Learning): tizim ishlatilgani sari aniqroq bo'lib boradi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120640"/>
            <a:ext cx="10881360" cy="548640"/>
          </a:xfrm>
          <a:prstGeom prst="roundRect">
            <a:avLst/>
          </a:prstGeom>
          <a:solidFill>
            <a:srgbClr val="DBF3F7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 i="0">
                <a:solidFill>
                  <a:srgbClr val="0E7490"/>
                </a:solidFill>
                <a:latin typeface="Consolas"/>
              </a:rPr>
              <a:t>Diqqat markazida: Upload → Auto-AI → Annotation → Dataset → Yangi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r>
              <a:rPr sz="900" b="0" i="1">
                <a:solidFill>
                  <a:srgbClr val="5B7074"/>
                </a:solidFill>
                <a:latin typeface="Calibri"/>
              </a:rPr>
              <a:t>AI Scan · MAMOGRAF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2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Tizim arxitekturasi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719" y="1234440"/>
            <a:ext cx="7308081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r>
              <a:rPr sz="900" b="0" i="1">
                <a:solidFill>
                  <a:srgbClr val="5B7074"/>
                </a:solidFill>
                <a:latin typeface="Calibri"/>
              </a:rPr>
              <a:t>AI Scan · MAMOGRAF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2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To'liq ish tsikli — umumiy ko'rinish</a:t>
            </a:r>
          </a:p>
        </p:txBody>
      </p:sp>
      <p:pic>
        <p:nvPicPr>
          <p:cNvPr id="5" name="Picture 4" descr="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286" y="1280160"/>
            <a:ext cx="7596947" cy="365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5532120"/>
            <a:ext cx="10515600" cy="548640"/>
          </a:xfrm>
          <a:prstGeom prst="roundRect">
            <a:avLst/>
          </a:prstGeom>
          <a:solidFill>
            <a:srgbClr val="E3F4EA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 i="0">
                <a:solidFill>
                  <a:srgbClr val="22A35A"/>
                </a:solidFill>
                <a:latin typeface="Consolas"/>
              </a:rPr>
              <a:t>Har ~50 yangi (tekshirilgan) annotatsiyada model AVTOMATIK qayta o'qitiladi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r>
              <a:rPr sz="900" b="0" i="1">
                <a:solidFill>
                  <a:srgbClr val="5B7074"/>
                </a:solidFill>
                <a:latin typeface="Calibri"/>
              </a:rPr>
              <a:t>AI Scan · MAMOGRAF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2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Bosqich 1 — Upload (DICOM yuklash)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09728"/>
            <a:ext cx="91440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r"/>
            <a:r>
              <a:rPr sz="1600" b="1" i="0">
                <a:solidFill>
                  <a:srgbClr val="BFD3EA"/>
                </a:solidFill>
                <a:latin typeface="Calibri"/>
              </a:rPr>
              <a:t>BOSQICH 1/5</a:t>
            </a:r>
          </a:p>
        </p:txBody>
      </p:sp>
      <p:pic>
        <p:nvPicPr>
          <p:cNvPr id="6" name="Picture 5" descr="stepper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836" y="1143000"/>
            <a:ext cx="8025847" cy="1143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2423160"/>
            <a:ext cx="6583680" cy="457200"/>
          </a:xfrm>
          <a:prstGeom prst="roundRect">
            <a:avLst/>
          </a:prstGeom>
          <a:solidFill>
            <a:srgbClr val="DBF3F7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 i="0">
                <a:solidFill>
                  <a:srgbClr val="0E7490"/>
                </a:solidFill>
                <a:latin typeface="Consolas"/>
              </a:rPr>
              <a:t>POST /api/upload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10972800" cy="31089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DICOM fayl noyob ID bilan uploads/&lt;id&gt;.dcm ga saqlanadi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pydicom validatsiyasi — yaroqsiz fayl rad etiladi (HTTP 400)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AVTO DE-IDENTIFY: PHI tag'lari DARHOL tozalanadi (annotatsiyadan oldin)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Metama'lumot qaytariladi: o'lcham, modality, view, laterality, kadrlar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Auto-AI fon (background) vazifasiga navbatga qo'yiladi</a:t>
            </a:r>
          </a:p>
          <a:p>
            <a:pPr lvl="1">
              <a:spcAft>
                <a:spcPts val="900"/>
              </a:spcAft>
            </a:pPr>
            <a:r>
              <a:rPr sz="1400" b="0" i="0">
                <a:solidFill>
                  <a:srgbClr val="5B7074"/>
                </a:solidFill>
                <a:latin typeface="Calibri"/>
              </a:rPr>
              <a:t>–  Upload bloklanmaydi — DICOM darhol ko'rinadi, bbox ~10–20s da paydo bo'ladi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r>
              <a:rPr sz="900" b="0" i="1">
                <a:solidFill>
                  <a:srgbClr val="5B7074"/>
                </a:solidFill>
                <a:latin typeface="Calibri"/>
              </a:rPr>
              <a:t>AI Scan · MAMOGRAF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2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Bosqich 2 — Auto-AI (avtomatik inference)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09728"/>
            <a:ext cx="91440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r"/>
            <a:r>
              <a:rPr sz="1600" b="1" i="0">
                <a:solidFill>
                  <a:srgbClr val="BFD3EA"/>
                </a:solidFill>
                <a:latin typeface="Calibri"/>
              </a:rPr>
              <a:t>BOSQICH 2/5</a:t>
            </a:r>
          </a:p>
        </p:txBody>
      </p:sp>
      <p:pic>
        <p:nvPicPr>
          <p:cNvPr id="6" name="Picture 5" descr="stepper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836" y="1143000"/>
            <a:ext cx="8025847" cy="1143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2423160"/>
            <a:ext cx="6583680" cy="457200"/>
          </a:xfrm>
          <a:prstGeom prst="roundRect">
            <a:avLst/>
          </a:prstGeom>
          <a:solidFill>
            <a:srgbClr val="DBF3F7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 i="0">
                <a:solidFill>
                  <a:srgbClr val="0E7490"/>
                </a:solidFill>
                <a:latin typeface="Consolas"/>
              </a:rPr>
              <a:t>_auto_infer_uploaded  (background)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6949440" cy="31089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DICOM → PNG render → YOLO inference (infer_png)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Har bir deteksiya ISHONCH (confidence) zonasiga ajratiladi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Pseudo-annotatsiya: created_by = "ai:&lt;model&gt;"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conf &lt; 0.20 — saqlanmaydi (tashlanadi)</a:t>
            </a:r>
          </a:p>
          <a:p>
            <a:pPr lvl="1">
              <a:spcAft>
                <a:spcPts val="900"/>
              </a:spcAft>
            </a:pPr>
            <a:r>
              <a:rPr sz="1400" b="0" i="0">
                <a:solidFill>
                  <a:srgbClr val="5B7074"/>
                </a:solidFill>
                <a:latin typeface="Calibri"/>
              </a:rPr>
              <a:t>–  Funksiya hech qachon xato qaytarmaydi — upload xavfsiz</a:t>
            </a:r>
          </a:p>
        </p:txBody>
      </p:sp>
      <p:pic>
        <p:nvPicPr>
          <p:cNvPr id="9" name="Picture 8" descr="z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200400"/>
            <a:ext cx="4023360" cy="1191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r>
              <a:rPr sz="900" b="0" i="1">
                <a:solidFill>
                  <a:srgbClr val="5B7074"/>
                </a:solidFill>
                <a:latin typeface="Calibri"/>
              </a:rPr>
              <a:t>AI Scan · MAMOGRAF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2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Bosqich 3 — Annotation (radiolog)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09728"/>
            <a:ext cx="91440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r"/>
            <a:r>
              <a:rPr sz="1600" b="1" i="0">
                <a:solidFill>
                  <a:srgbClr val="BFD3EA"/>
                </a:solidFill>
                <a:latin typeface="Calibri"/>
              </a:rPr>
              <a:t>BOSQICH 3/5</a:t>
            </a:r>
          </a:p>
        </p:txBody>
      </p:sp>
      <p:pic>
        <p:nvPicPr>
          <p:cNvPr id="6" name="Picture 5" descr="stepper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836" y="1143000"/>
            <a:ext cx="8025847" cy="1143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2423160"/>
            <a:ext cx="6583680" cy="457200"/>
          </a:xfrm>
          <a:prstGeom prst="roundRect">
            <a:avLst/>
          </a:prstGeom>
          <a:solidFill>
            <a:srgbClr val="DBF3F7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 i="0">
                <a:solidFill>
                  <a:srgbClr val="0E7490"/>
                </a:solidFill>
                <a:latin typeface="Consolas"/>
              </a:rPr>
              <a:t>PUT /api/annotations · /status · /history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10972800" cy="31089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Radiolog AI takliflarini tasdiqlaydi / tahrirlaydi / o'chiradi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Zarur bo'lsa yangi bbox yoki polygon qo'shadi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Multi-label: bitta belgi bir nechta yorliqqa ega bo'lishi mumkin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Status: edited / approved / submitted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Har bir o'zgarish audit jurnaliga yoziladi (kim · qachon · nima)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/training/suggestion → ≥50 annotatsiyada 'qayta o'qitish' tavsiyasi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r>
              <a:rPr sz="900" b="0" i="1">
                <a:solidFill>
                  <a:srgbClr val="5B7074"/>
                </a:solidFill>
                <a:latin typeface="Calibri"/>
              </a:rPr>
              <a:t>AI Scan · MAMOGRAF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2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Bosqich 4 — Training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09728"/>
            <a:ext cx="91440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r"/>
            <a:r>
              <a:rPr sz="1600" b="1" i="0">
                <a:solidFill>
                  <a:srgbClr val="BFD3EA"/>
                </a:solidFill>
                <a:latin typeface="Calibri"/>
              </a:rPr>
              <a:t>BOSQICH 4/5</a:t>
            </a:r>
          </a:p>
        </p:txBody>
      </p:sp>
      <p:pic>
        <p:nvPicPr>
          <p:cNvPr id="6" name="Picture 5" descr="stepper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836" y="1143000"/>
            <a:ext cx="8025847" cy="1143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2423160"/>
            <a:ext cx="6583680" cy="457200"/>
          </a:xfrm>
          <a:prstGeom prst="roundRect">
            <a:avLst/>
          </a:prstGeom>
          <a:solidFill>
            <a:srgbClr val="DBF3F7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 i="0">
                <a:solidFill>
                  <a:srgbClr val="0E7490"/>
                </a:solidFill>
                <a:latin typeface="Consolas"/>
              </a:rPr>
              <a:t>POST /api/training/prepare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6949440" cy="31089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Annotatsiyalardan Ultralytics YOLO formatidagi dataset yaratiladi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Filtrlar: include_ai (AI belgilarini qo'shish), statuses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bbox / polygon → YOLO normalized formatga aylantiriladi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BEMOR darajasida train/val split — data leakage oldini oladi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seed orqali takrorlanuvchi (reproducible) bo'linish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3108960"/>
            <a:ext cx="3931920" cy="2377440"/>
          </a:xfrm>
          <a:prstGeom prst="rect">
            <a:avLst/>
          </a:prstGeom>
          <a:solidFill>
            <a:srgbClr val="0F141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01600"/>
          <a:lstStyle/>
          <a:p>
            <a:pPr algn="ctr"/>
            <a:r>
              <a:rPr sz="1200" b="0" i="0">
                <a:solidFill>
                  <a:srgbClr val="7EE79A"/>
                </a:solidFill>
                <a:latin typeface="Consolas"/>
              </a:rPr>
              <a:t>&lt;dest&gt;/</a:t>
            </a:r>
          </a:p>
          <a:p>
            <a:r>
              <a:rPr sz="1200" b="0" i="0">
                <a:solidFill>
                  <a:srgbClr val="7EE79A"/>
                </a:solidFill>
                <a:latin typeface="Consolas"/>
              </a:rPr>
              <a:t>  images/{train,val}/</a:t>
            </a:r>
          </a:p>
          <a:p>
            <a:r>
              <a:rPr sz="1200" b="0" i="0">
                <a:solidFill>
                  <a:srgbClr val="7EE79A"/>
                </a:solidFill>
                <a:latin typeface="Consolas"/>
              </a:rPr>
              <a:t>    &lt;id&gt;.png</a:t>
            </a:r>
          </a:p>
          <a:p>
            <a:r>
              <a:rPr sz="1200" b="0" i="0">
                <a:solidFill>
                  <a:srgbClr val="7EE79A"/>
                </a:solidFill>
                <a:latin typeface="Consolas"/>
              </a:rPr>
              <a:t>  labels/{train,val}/</a:t>
            </a:r>
          </a:p>
          <a:p>
            <a:r>
              <a:rPr sz="1200" b="0" i="0">
                <a:solidFill>
                  <a:srgbClr val="7EE79A"/>
                </a:solidFill>
                <a:latin typeface="Consolas"/>
              </a:rPr>
              <a:t>    &lt;id&gt;.txt</a:t>
            </a:r>
          </a:p>
          <a:p>
            <a:r>
              <a:rPr sz="1200" b="0" i="0">
                <a:solidFill>
                  <a:srgbClr val="7EE79A"/>
                </a:solidFill>
                <a:latin typeface="Consolas"/>
              </a:rPr>
              <a:t>  data.yaml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r>
              <a:rPr sz="900" b="0" i="1">
                <a:solidFill>
                  <a:srgbClr val="5B7074"/>
                </a:solidFill>
                <a:latin typeface="Calibri"/>
              </a:rPr>
              <a:t>AI Scan · MAMOGRAF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2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Bosqich 5 — Yangi model (o'qitish + deploy)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09728"/>
            <a:ext cx="91440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r"/>
            <a:r>
              <a:rPr sz="1600" b="1" i="0">
                <a:solidFill>
                  <a:srgbClr val="BFD3EA"/>
                </a:solidFill>
                <a:latin typeface="Calibri"/>
              </a:rPr>
              <a:t>BOSQICH 5/5</a:t>
            </a:r>
          </a:p>
        </p:txBody>
      </p:sp>
      <p:pic>
        <p:nvPicPr>
          <p:cNvPr id="6" name="Picture 5" descr="stepper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836" y="1143000"/>
            <a:ext cx="8025847" cy="1143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2423160"/>
            <a:ext cx="6583680" cy="457200"/>
          </a:xfrm>
          <a:prstGeom prst="roundRect">
            <a:avLst/>
          </a:prstGeom>
          <a:solidFill>
            <a:srgbClr val="DBF3F7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 i="0">
                <a:solidFill>
                  <a:srgbClr val="0E7490"/>
                </a:solidFill>
                <a:latin typeface="Consolas"/>
              </a:rPr>
              <a:t>POST /api/training/run → _run_yolo_train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10972800" cy="31089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Ultralytics YOLO o'qitish fon rejimida boshlanadi (run_id)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Parametrlar: base_model · epochs · imgsz · batch · optimizer · lr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Augmentation: hsv · fliplr · scale · mosaic · mixup · early stopping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deploy_after=True → o'qitilgan model AVTOMATIK joylanadi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03A40"/>
                </a:solidFill>
                <a:latin typeface="Calibri"/>
              </a:rPr>
              <a:t>▸  Holat kuzatuvi: /training/status/{run_id} · /training/runs</a:t>
            </a:r>
          </a:p>
          <a:p>
            <a:pPr lvl="1">
              <a:spcAft>
                <a:spcPts val="900"/>
              </a:spcAft>
            </a:pPr>
            <a:r>
              <a:rPr sz="1400" b="0" i="0">
                <a:solidFill>
                  <a:srgbClr val="5B7074"/>
                </a:solidFill>
                <a:latin typeface="Calibri"/>
              </a:rPr>
              <a:t>–  Yangi model keyingi Auto-AI'da ishlatiladi → sikl yopiladi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r>
              <a:rPr sz="900" b="0" i="1">
                <a:solidFill>
                  <a:srgbClr val="5B7074"/>
                </a:solidFill>
                <a:latin typeface="Calibri"/>
              </a:rPr>
              <a:t>AI Scan · MAMOGRAF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2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Aktiv o'qitish — nega yopiq sikl?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21945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>
              <a:spcAft>
                <a:spcPts val="1200"/>
              </a:spcAft>
            </a:pPr>
            <a:r>
              <a:rPr sz="1900" b="0" i="0">
                <a:solidFill>
                  <a:srgbClr val="103A40"/>
                </a:solidFill>
                <a:latin typeface="Calibri"/>
              </a:rPr>
              <a:t>▸  Yangi o'qitilgan model keyingi UPLOAD'larda Auto-AI sifatida ishlatiladi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103A40"/>
                </a:solidFill>
                <a:latin typeface="Calibri"/>
              </a:rPr>
              <a:t>▸  Aniqroq AI → radiolog kamroq tuzatadi → annotatsiya tez to'planadi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103A40"/>
                </a:solidFill>
                <a:latin typeface="Calibri"/>
              </a:rPr>
              <a:t>▸  Ko'proq sifatli annotatsiya → yana aniqroq model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103A40"/>
                </a:solidFill>
                <a:latin typeface="Calibri"/>
              </a:rPr>
              <a:t>▸  Natija: har aylanishda model yaxshilanadi, qo'l mehnati kamayadi</a:t>
            </a:r>
          </a:p>
        </p:txBody>
      </p:sp>
      <p:pic>
        <p:nvPicPr>
          <p:cNvPr id="6" name="Picture 5" descr="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586" y="3657600"/>
            <a:ext cx="5507787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r>
              <a:rPr sz="900" b="0" i="1">
                <a:solidFill>
                  <a:srgbClr val="5B7074"/>
                </a:solidFill>
                <a:latin typeface="Calibri"/>
              </a:rPr>
              <a:t>AI Scan · MAMOGRAF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2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Veb-interfeys — kirish (login)</a:t>
            </a:r>
          </a:p>
        </p:txBody>
      </p:sp>
      <p:pic>
        <p:nvPicPr>
          <p:cNvPr id="5" name="Picture 4" descr="ui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02" y="1234440"/>
            <a:ext cx="7354956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0" y="1554480"/>
            <a:ext cx="3108960" cy="42062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103A40"/>
                </a:solidFill>
                <a:latin typeface="Calibri"/>
              </a:rPr>
              <a:t>▸  JWT autentifikatsiya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03A40"/>
                </a:solidFill>
                <a:latin typeface="Calibri"/>
              </a:rPr>
              <a:t>▸  Ixtiyoriy TOTP (2FA)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03A40"/>
                </a:solidFill>
                <a:latin typeface="Calibri"/>
              </a:rPr>
              <a:t>▸  Rollar: admin · reviewer · annotator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03A40"/>
                </a:solidFill>
                <a:latin typeface="Calibri"/>
              </a:rPr>
              <a:t>▸  Rate-limit himoyasi (10/min)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r>
              <a:rPr sz="900" b="0" i="1">
                <a:solidFill>
                  <a:srgbClr val="5B7074"/>
                </a:solidFill>
                <a:latin typeface="Calibri"/>
              </a:rPr>
              <a:t>AI Scan · MAMOGRAF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2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Veb-interfeys — DICOM ko'ruvchi va annotatsiya</a:t>
            </a:r>
          </a:p>
        </p:txBody>
      </p:sp>
      <p:pic>
        <p:nvPicPr>
          <p:cNvPr id="5" name="Picture 4" descr="ui_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02" y="1234440"/>
            <a:ext cx="7354956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0" y="1554480"/>
            <a:ext cx="3108960" cy="42062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103A40"/>
                </a:solidFill>
                <a:latin typeface="Calibri"/>
              </a:rPr>
              <a:t>▸  BBox · Polygon · Ruler · Angle · Smart click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03A40"/>
                </a:solidFill>
                <a:latin typeface="Calibri"/>
              </a:rPr>
              <a:t>▸  AI takliflari rangli zonalar bilan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03A40"/>
                </a:solidFill>
                <a:latin typeface="Calibri"/>
              </a:rPr>
              <a:t>▸  Metadata PHI'siz (ANONYMOUS^PATIENT)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03A40"/>
                </a:solidFill>
                <a:latin typeface="Calibri"/>
              </a:rPr>
              <a:t>▸  Eksport: COCO · YOLO · VOC · CSV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03A40"/>
                </a:solidFill>
                <a:latin typeface="Calibri"/>
              </a:rPr>
              <a:t>▸  DICOM-SEG · SR · Mask · Radiomics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r>
              <a:rPr sz="900" b="0" i="1">
                <a:solidFill>
                  <a:srgbClr val="5B7074"/>
                </a:solidFill>
                <a:latin typeface="Calibri"/>
              </a:rPr>
              <a:t>AI Scan · MAMOGRAF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2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Veb-interfeys — Model Studio (o'qitish)</a:t>
            </a:r>
          </a:p>
        </p:txBody>
      </p:sp>
      <p:pic>
        <p:nvPicPr>
          <p:cNvPr id="5" name="Picture 4" descr="ui_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02" y="1234440"/>
            <a:ext cx="7354956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0" y="1554480"/>
            <a:ext cx="3108960" cy="42062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103A40"/>
                </a:solidFill>
                <a:latin typeface="Calibri"/>
              </a:rPr>
              <a:t>▸  Dataset (data.yaml) tanlash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03A40"/>
                </a:solidFill>
                <a:latin typeface="Calibri"/>
              </a:rPr>
              <a:t>▸  Base model · pretrained · resume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03A40"/>
                </a:solidFill>
                <a:latin typeface="Calibri"/>
              </a:rPr>
              <a:t>▸  Epochs · batch · imgsz · optimizer · LR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03A40"/>
                </a:solidFill>
                <a:latin typeface="Calibri"/>
              </a:rPr>
              <a:t>▸  Augmentation sozlamalari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03A40"/>
                </a:solidFill>
                <a:latin typeface="Calibri"/>
              </a:rPr>
              <a:t>▸  Run tarixi va aktiv o'qitish maslahati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r>
              <a:rPr sz="900" b="0" i="1">
                <a:solidFill>
                  <a:srgbClr val="5B7074"/>
                </a:solidFill>
                <a:latin typeface="Calibri"/>
              </a:rPr>
              <a:t>AI Scan · MAMOGRAF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2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Model arxitekturasi — BCA-YOLO</a:t>
            </a:r>
          </a:p>
        </p:txBody>
      </p:sp>
      <p:pic>
        <p:nvPicPr>
          <p:cNvPr id="5" name="Picture 4" descr="arch_bca_y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870" y="1188720"/>
            <a:ext cx="7383780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800600"/>
            <a:ext cx="10698480" cy="15544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103A40"/>
                </a:solidFill>
                <a:latin typeface="Calibri"/>
              </a:rPr>
              <a:t>▸  Bilateral Cross-Attention (BCA): chap/o'ng ko'krak assimetriyasini hisobga oladi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03A40"/>
                </a:solidFill>
                <a:latin typeface="Calibri"/>
              </a:rPr>
              <a:t>▸  Inter-View Consistency (IVC): CC + MLO ko'rinishlarini birlashtiradi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03A40"/>
                </a:solidFill>
                <a:latin typeface="Calibri"/>
              </a:rPr>
              <a:t>▸  Ordinal BI-RADS regressiya boshi (cumulative link)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r>
              <a:rPr sz="900" b="0" i="1">
                <a:solidFill>
                  <a:srgbClr val="5B7074"/>
                </a:solidFill>
                <a:latin typeface="Calibri"/>
              </a:rPr>
              <a:t>AI Scan · MAMOGRAF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2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Model arxitekturasi — TILLNet-Det</a:t>
            </a:r>
          </a:p>
        </p:txBody>
      </p:sp>
      <p:pic>
        <p:nvPicPr>
          <p:cNvPr id="5" name="Picture 4" descr="arch_till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832" y="1188720"/>
            <a:ext cx="7123855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800600"/>
            <a:ext cx="10698480" cy="15544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103A40"/>
                </a:solidFill>
                <a:latin typeface="Calibri"/>
              </a:rPr>
              <a:t>▸  Cross-script matn enkoderi (o'zbek-Cy / o'zbek-Lat / rus / ingliz)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03A40"/>
                </a:solidFill>
                <a:latin typeface="Calibri"/>
              </a:rPr>
              <a:t>▸  FiLM modulyatsiya: hisobot matni vizual FPN'ni shartlashtiradi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03A40"/>
                </a:solidFill>
                <a:latin typeface="Calibri"/>
              </a:rPr>
              <a:t>▸  Anchor-free FCOS head — classification · regression · centerness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r>
              <a:rPr sz="900" b="0" i="1">
                <a:solidFill>
                  <a:srgbClr val="5B7074"/>
                </a:solidFill>
                <a:latin typeface="Calibri"/>
              </a:rPr>
              <a:t>AI Scan · MAMOGRAF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2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Xulosa va texnologiyalar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8404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103A40"/>
                </a:solidFill>
                <a:latin typeface="Calibri"/>
              </a:rPr>
              <a:t>▸  Yopiq AI sikli: Upload → Auto-AI → Annotation → Dataset → Yangi model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03A40"/>
                </a:solidFill>
                <a:latin typeface="Calibri"/>
              </a:rPr>
              <a:t>▸  Backend: Python · FastAPI · Uvicorn  |  AI: PyTorch · Ultralytics YOLO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03A40"/>
                </a:solidFill>
                <a:latin typeface="Calibri"/>
              </a:rPr>
              <a:t>▸  DICOM: pydicom · highdicom · pylibjpeg  |  Radiomics: GLCM/GLRLM/GLSZM/NGTDM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03A40"/>
                </a:solidFill>
                <a:latin typeface="Calibri"/>
              </a:rPr>
              <a:t>▸  Xavfsizlik: JWT + TOTP (2FA) · avtomatik PHI de-identifikatsiya · audit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03A40"/>
                </a:solidFill>
                <a:latin typeface="Calibri"/>
              </a:rPr>
              <a:t>▸  Eksport: YOLO · VOC · CSV · DICOM-SEG · DICOM-SR · NIfTI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03A40"/>
                </a:solidFill>
                <a:latin typeface="Calibri"/>
              </a:rPr>
              <a:t>▸  Maxsus model arxitekturalari: BCA-YOLO · TILLNet-Det · XS-Classifier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577840"/>
            <a:ext cx="10881360" cy="54864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 i="0">
                <a:solidFill>
                  <a:srgbClr val="C0392B"/>
                </a:solidFill>
                <a:latin typeface="Consolas"/>
              </a:rPr>
              <a:t>Faqat ilmiy-tadqiqot maqsadida · klinikada qo'llashdan oldin validatsiya talab etiladi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r>
              <a:rPr sz="900" b="0" i="1">
                <a:solidFill>
                  <a:srgbClr val="5B7074"/>
                </a:solidFill>
                <a:latin typeface="Calibri"/>
              </a:rPr>
              <a:t>AI Scan · MAMOGRAF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